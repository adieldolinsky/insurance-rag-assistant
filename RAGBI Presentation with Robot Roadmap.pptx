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Playfair Display"/>
      <p:regular r:id="rId15"/>
      <p:bold r:id="rId16"/>
      <p:italic r:id="rId17"/>
      <p:boldItalic r:id="rId18"/>
    </p:embeddedFont>
    <p:embeddedFont>
      <p:font typeface="Arimo"/>
      <p:regular r:id="rId19"/>
      <p:bold r:id="rId20"/>
      <p:italic r:id="rId21"/>
      <p:boldItalic r:id="rId22"/>
    </p:embeddedFont>
    <p:embeddedFont>
      <p:font typeface="Playfair Display SemiBol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bold.fntdata"/><Relationship Id="rId22" Type="http://schemas.openxmlformats.org/officeDocument/2006/relationships/font" Target="fonts/Arimo-boldItalic.fntdata"/><Relationship Id="rId21" Type="http://schemas.openxmlformats.org/officeDocument/2006/relationships/font" Target="fonts/Arimo-italic.fntdata"/><Relationship Id="rId24" Type="http://schemas.openxmlformats.org/officeDocument/2006/relationships/font" Target="fonts/PlayfairDisplaySemiBold-bold.fntdata"/><Relationship Id="rId23" Type="http://schemas.openxmlformats.org/officeDocument/2006/relationships/font" Target="fonts/PlayfairDisplay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fairDisplaySemiBold-boldItalic.fntdata"/><Relationship Id="rId25" Type="http://schemas.openxmlformats.org/officeDocument/2006/relationships/font" Target="fonts/PlayfairDisplay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PlayfairDisplay-regular.fntdata"/><Relationship Id="rId14" Type="http://schemas.openxmlformats.org/officeDocument/2006/relationships/slide" Target="slides/slide9.xml"/><Relationship Id="rId17" Type="http://schemas.openxmlformats.org/officeDocument/2006/relationships/font" Target="fonts/PlayfairDisplay-italic.fntdata"/><Relationship Id="rId16" Type="http://schemas.openxmlformats.org/officeDocument/2006/relationships/font" Target="fonts/PlayfairDisplay-bold.fntdata"/><Relationship Id="rId19" Type="http://schemas.openxmlformats.org/officeDocument/2006/relationships/font" Target="fonts/Arimo-regular.fntdata"/><Relationship Id="rId18" Type="http://schemas.openxmlformats.org/officeDocument/2006/relationships/font" Target="fonts/PlayfairDisplay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4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42.png"/><Relationship Id="rId6" Type="http://schemas.openxmlformats.org/officeDocument/2006/relationships/image" Target="../media/image2.png"/><Relationship Id="rId7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10" Type="http://schemas.openxmlformats.org/officeDocument/2006/relationships/image" Target="../media/image27.png"/><Relationship Id="rId9" Type="http://schemas.openxmlformats.org/officeDocument/2006/relationships/image" Target="../media/image26.png"/><Relationship Id="rId5" Type="http://schemas.openxmlformats.org/officeDocument/2006/relationships/image" Target="../media/image31.png"/><Relationship Id="rId6" Type="http://schemas.openxmlformats.org/officeDocument/2006/relationships/image" Target="../media/image7.png"/><Relationship Id="rId7" Type="http://schemas.openxmlformats.org/officeDocument/2006/relationships/image" Target="../media/image15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21.png"/><Relationship Id="rId13" Type="http://schemas.openxmlformats.org/officeDocument/2006/relationships/image" Target="../media/image23.png"/><Relationship Id="rId1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9" Type="http://schemas.openxmlformats.org/officeDocument/2006/relationships/image" Target="../media/image19.png"/><Relationship Id="rId15" Type="http://schemas.openxmlformats.org/officeDocument/2006/relationships/image" Target="../media/image25.png"/><Relationship Id="rId14" Type="http://schemas.openxmlformats.org/officeDocument/2006/relationships/image" Target="../media/image22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Relationship Id="rId8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9" Type="http://schemas.openxmlformats.org/officeDocument/2006/relationships/image" Target="../media/image44.png"/><Relationship Id="rId5" Type="http://schemas.openxmlformats.org/officeDocument/2006/relationships/image" Target="../media/image24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0.png"/><Relationship Id="rId9" Type="http://schemas.openxmlformats.org/officeDocument/2006/relationships/image" Target="../media/image34.png"/><Relationship Id="rId5" Type="http://schemas.openxmlformats.org/officeDocument/2006/relationships/image" Target="../media/image33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9.png"/><Relationship Id="rId5" Type="http://schemas.openxmlformats.org/officeDocument/2006/relationships/image" Target="../media/image37.png"/><Relationship Id="rId6" Type="http://schemas.openxmlformats.org/officeDocument/2006/relationships/image" Target="../media/image4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1.png"/><Relationship Id="rId5" Type="http://schemas.openxmlformats.org/officeDocument/2006/relationships/image" Target="../media/image45.png"/><Relationship Id="rId6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BE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143000"/>
            <a:ext cx="47625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3948112"/>
            <a:ext cx="523875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title="picture.jpg"/>
          <p:cNvPicPr preferRelativeResize="0"/>
          <p:nvPr/>
        </p:nvPicPr>
        <p:blipFill rotWithShape="1">
          <a:blip r:embed="rId6">
            <a:alphaModFix/>
          </a:blip>
          <a:srcRect b="17897" l="0" r="0" t="-2435"/>
          <a:stretch/>
        </p:blipFill>
        <p:spPr>
          <a:xfrm>
            <a:off x="908800" y="859850"/>
            <a:ext cx="4667249" cy="545285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5929312" y="1309687"/>
            <a:ext cx="55006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C362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Adiel Dolinsky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191250" y="2509837"/>
            <a:ext cx="5238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BC6C25"/>
                </a:solidFill>
                <a:latin typeface="Arimo"/>
                <a:ea typeface="Arimo"/>
                <a:cs typeface="Arimo"/>
                <a:sym typeface="Arimo"/>
              </a:rPr>
              <a:t>The Open University of Israel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191250" y="3224212"/>
            <a:ext cx="5238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544B"/>
                </a:solidFill>
                <a:latin typeface="Arimo"/>
                <a:ea typeface="Arimo"/>
                <a:cs typeface="Arimo"/>
                <a:sym typeface="Arimo"/>
              </a:rPr>
              <a:t>B.Sc. Student in </a:t>
            </a:r>
            <a:r>
              <a:rPr b="1" i="0" lang="en-US" sz="1800" u="none" cap="none" strike="noStrike">
                <a:solidFill>
                  <a:srgbClr val="5A544B"/>
                </a:solidFill>
                <a:latin typeface="Arimo"/>
                <a:ea typeface="Arimo"/>
                <a:cs typeface="Arimo"/>
                <a:sym typeface="Arimo"/>
              </a:rPr>
              <a:t>Computer Science &amp; Economics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477000" y="4233862"/>
            <a:ext cx="46101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5A544B"/>
                </a:solidFill>
                <a:latin typeface="Arimo"/>
                <a:ea typeface="Arimo"/>
                <a:cs typeface="Arimo"/>
                <a:sym typeface="Arimo"/>
              </a:rPr>
              <a:t>"There is no greater joy than finally cracking the solution to a complex problem that has challenged me for a long time."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BE0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62162"/>
            <a:ext cx="47625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6191250" y="2271712"/>
            <a:ext cx="48101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A544B"/>
                </a:solidFill>
                <a:latin typeface="Arimo"/>
                <a:ea typeface="Arimo"/>
                <a:cs typeface="Arimo"/>
                <a:sym typeface="Arimo"/>
              </a:rPr>
              <a:t>The Problem:</a:t>
            </a:r>
            <a:r>
              <a:rPr b="0" i="0" lang="en-US" sz="1650" u="none" cap="none" strike="noStrike">
                <a:solidFill>
                  <a:srgbClr val="5A544B"/>
                </a:solidFill>
                <a:latin typeface="Arimo"/>
                <a:ea typeface="Arimo"/>
                <a:cs typeface="Arimo"/>
                <a:sym typeface="Arimo"/>
              </a:rPr>
              <a:t> Purchasing insurance is easy, but understanding it is hard. This leads to unclaimed benefits and unnecessary out-of-pocket expenses.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191250" y="3452812"/>
            <a:ext cx="48101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A544B"/>
                </a:solidFill>
                <a:latin typeface="Arimo"/>
                <a:ea typeface="Arimo"/>
                <a:cs typeface="Arimo"/>
                <a:sym typeface="Arimo"/>
              </a:rPr>
              <a:t>The Users:</a:t>
            </a:r>
            <a:r>
              <a:rPr b="0" i="0" lang="en-US" sz="1650" u="none" cap="none" strike="noStrike">
                <a:solidFill>
                  <a:srgbClr val="5A544B"/>
                </a:solidFill>
                <a:latin typeface="Arimo"/>
                <a:ea typeface="Arimo"/>
                <a:cs typeface="Arimo"/>
                <a:sym typeface="Arimo"/>
              </a:rPr>
              <a:t> Anyone who struggles with complex policy documents and needs clear, accessible health coverage information.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191250" y="4633912"/>
            <a:ext cx="48101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A544B"/>
                </a:solidFill>
                <a:latin typeface="Arimo"/>
                <a:ea typeface="Arimo"/>
                <a:cs typeface="Arimo"/>
                <a:sym typeface="Arimo"/>
              </a:rPr>
              <a:t>The System:</a:t>
            </a:r>
            <a:r>
              <a:rPr b="0" i="0" lang="en-US" sz="1650" u="none" cap="none" strike="noStrike">
                <a:solidFill>
                  <a:srgbClr val="5A544B"/>
                </a:solidFill>
                <a:latin typeface="Arimo"/>
                <a:ea typeface="Arimo"/>
                <a:cs typeface="Arimo"/>
                <a:sym typeface="Arimo"/>
              </a:rPr>
              <a:t> An AI assistant that uses RAG to retrieve policy details instantly and compare coverage across different plans.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01400" y="23193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44250" y="35004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44250" y="4681537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228600" y="57150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C362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RAGBI: Smart Insurance Assistant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BE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57412"/>
            <a:ext cx="5191125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157412"/>
            <a:ext cx="5191125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281487"/>
            <a:ext cx="5191125" cy="1495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4281487"/>
            <a:ext cx="5191125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1342310" y="2705100"/>
            <a:ext cx="403050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C6C25"/>
                </a:solidFill>
                <a:latin typeface="Arimo"/>
                <a:ea typeface="Arimo"/>
                <a:cs typeface="Arimo"/>
                <a:sym typeface="Arimo"/>
              </a:rPr>
              <a:t>1. Application &amp; Infrastructure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2538412" y="3105150"/>
            <a:ext cx="1638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A4238"/>
                </a:solidFill>
                <a:latin typeface="Arimo"/>
                <a:ea typeface="Arimo"/>
                <a:cs typeface="Arimo"/>
                <a:sym typeface="Arimo"/>
              </a:rPr>
              <a:t>Flask &amp; Docker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529274" y="2533650"/>
            <a:ext cx="261032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C6C25"/>
                </a:solidFill>
                <a:latin typeface="Arimo"/>
                <a:ea typeface="Arimo"/>
                <a:cs typeface="Arimo"/>
                <a:sym typeface="Arimo"/>
              </a:rPr>
              <a:t>2. AI &amp; Core Engine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558087" y="2933700"/>
            <a:ext cx="2552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A4238"/>
                </a:solidFill>
                <a:latin typeface="Arimo"/>
                <a:ea typeface="Arimo"/>
                <a:cs typeface="Arimo"/>
                <a:sym typeface="Arimo"/>
              </a:rPr>
              <a:t>AWS Bedrock &amp; Claude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4A4238"/>
                </a:solidFill>
                <a:latin typeface="Arimo"/>
                <a:ea typeface="Arimo"/>
                <a:cs typeface="Arimo"/>
                <a:sym typeface="Arimo"/>
              </a:rPr>
              <a:t> &amp; RAG Engine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997392" y="4657725"/>
            <a:ext cx="272034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C6C25"/>
                </a:solidFill>
                <a:latin typeface="Arimo"/>
                <a:ea typeface="Arimo"/>
                <a:cs typeface="Arimo"/>
                <a:sym typeface="Arimo"/>
              </a:rPr>
              <a:t>3. Data &amp; MCP/Tools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2071687" y="5057775"/>
            <a:ext cx="2571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A4238"/>
                </a:solidFill>
                <a:latin typeface="Arimo"/>
                <a:ea typeface="Arimo"/>
                <a:cs typeface="Arimo"/>
                <a:sym typeface="Arimo"/>
              </a:rPr>
              <a:t>AWS Lambda &amp; Pandas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7629286" y="4657725"/>
            <a:ext cx="241030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C6C25"/>
                </a:solidFill>
                <a:latin typeface="Arimo"/>
                <a:ea typeface="Arimo"/>
                <a:cs typeface="Arimo"/>
                <a:sym typeface="Arimo"/>
              </a:rPr>
              <a:t>4. Version Control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448675" y="5057775"/>
            <a:ext cx="7715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A4238"/>
                </a:solidFill>
                <a:latin typeface="Arimo"/>
                <a:ea typeface="Arimo"/>
                <a:cs typeface="Arimo"/>
                <a:sym typeface="Arimo"/>
              </a:rPr>
              <a:t>GitHub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228600" y="57150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C362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Technology Stack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BE0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28787" y="3071812"/>
            <a:ext cx="2428875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5362" y="2986087"/>
            <a:ext cx="2295525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48587" y="3071812"/>
            <a:ext cx="2714625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05100" y="332898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1938099" y="4033837"/>
            <a:ext cx="201025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C6C25"/>
                </a:solidFill>
                <a:latin typeface="Arimo"/>
                <a:ea typeface="Arimo"/>
                <a:cs typeface="Arimo"/>
                <a:sym typeface="Arimo"/>
              </a:rPr>
              <a:t>Upload &amp; Parsing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985962" y="4376737"/>
            <a:ext cx="19145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544B"/>
                </a:solidFill>
                <a:latin typeface="Arimo"/>
                <a:ea typeface="Arimo"/>
                <a:cs typeface="Arimo"/>
                <a:sym typeface="Arimo"/>
              </a:rPr>
              <a:t>Policy PDF Ingestion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48162" y="380047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0" y="324326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018008" y="3948112"/>
            <a:ext cx="187023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C6C25"/>
                </a:solidFill>
                <a:latin typeface="Arimo"/>
                <a:ea typeface="Arimo"/>
                <a:cs typeface="Arimo"/>
                <a:sym typeface="Arimo"/>
              </a:rPr>
              <a:t>Admin Lambdas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062537" y="4291012"/>
            <a:ext cx="1781175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BC6C25"/>
                </a:solidFill>
                <a:latin typeface="Arimo"/>
                <a:ea typeface="Arimo"/>
                <a:cs typeface="Arimo"/>
                <a:sym typeface="Arimo"/>
              </a:rPr>
              <a:t>Isolated Heavy Processing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062537" y="4505325"/>
            <a:ext cx="17811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C857B"/>
                </a:solidFill>
                <a:latin typeface="Arimo"/>
                <a:ea typeface="Arimo"/>
                <a:cs typeface="Arimo"/>
                <a:sym typeface="Arimo"/>
              </a:rPr>
              <a:t>(vs. Runtime Agent Lambdas)</a:t>
            </a:r>
            <a:endParaRPr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91387" y="380047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39212" y="332898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7950755" y="4033837"/>
            <a:ext cx="231028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C6C25"/>
                </a:solidFill>
                <a:latin typeface="Arimo"/>
                <a:ea typeface="Arimo"/>
                <a:cs typeface="Arimo"/>
                <a:sym typeface="Arimo"/>
              </a:rPr>
              <a:t>Targeted S3 Storage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005762" y="4376737"/>
            <a:ext cx="22002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544B"/>
                </a:solidFill>
                <a:latin typeface="Arimo"/>
                <a:ea typeface="Arimo"/>
                <a:cs typeface="Arimo"/>
                <a:sym typeface="Arimo"/>
              </a:rPr>
              <a:t>Optimized Knowledge Base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228600" y="57150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C362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System Architecture: Knowledge Base Pipeline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BE0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976562"/>
            <a:ext cx="17145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28950" y="2976562"/>
            <a:ext cx="2172444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44794" y="2876550"/>
            <a:ext cx="1885205" cy="2181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53844" y="3038475"/>
            <a:ext cx="3238500" cy="7858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53844" y="4110037"/>
            <a:ext cx="3238500" cy="7858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09700" y="3233737"/>
            <a:ext cx="4191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989171" y="3890962"/>
            <a:ext cx="126015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C6C25"/>
                </a:solidFill>
                <a:latin typeface="Arimo"/>
                <a:ea typeface="Arimo"/>
                <a:cs typeface="Arimo"/>
                <a:sym typeface="Arimo"/>
              </a:rPr>
              <a:t>User to Flask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019175" y="4500562"/>
            <a:ext cx="12001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44B"/>
                </a:solidFill>
                <a:latin typeface="Arimo"/>
                <a:ea typeface="Arimo"/>
                <a:cs typeface="Arimo"/>
                <a:sym typeface="Arimo"/>
              </a:rPr>
              <a:t>Interface Gateway</a:t>
            </a:r>
            <a:endParaRPr/>
          </a:p>
        </p:txBody>
      </p:sp>
      <p:pic>
        <p:nvPicPr>
          <p:cNvPr descr="image.png" id="160" name="Google Shape;160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619375" y="380047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929360" y="3233737"/>
            <a:ext cx="3714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4672" y="3890962"/>
            <a:ext cx="174099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C6C25"/>
                </a:solidFill>
                <a:latin typeface="Arimo"/>
                <a:ea typeface="Arimo"/>
                <a:cs typeface="Arimo"/>
                <a:sym typeface="Arimo"/>
              </a:rPr>
              <a:t>AWS Bedrock Agent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3286125" y="4500562"/>
            <a:ext cx="165809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C6C25"/>
                </a:solidFill>
                <a:latin typeface="Arimo"/>
                <a:ea typeface="Arimo"/>
                <a:cs typeface="Arimo"/>
                <a:sym typeface="Arimo"/>
              </a:rPr>
              <a:t>Central Orchestrator</a:t>
            </a:r>
            <a:endParaRPr/>
          </a:p>
        </p:txBody>
      </p:sp>
      <p:pic>
        <p:nvPicPr>
          <p:cNvPr descr="image.png" id="164" name="Google Shape;164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344269" y="380047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135219" y="380047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301585" y="3133725"/>
            <a:ext cx="3714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9767697" y="3790950"/>
            <a:ext cx="143939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C6C25"/>
                </a:solidFill>
                <a:latin typeface="Arimo"/>
                <a:ea typeface="Arimo"/>
                <a:cs typeface="Arimo"/>
                <a:sym typeface="Arimo"/>
              </a:rPr>
              <a:t>Final Generation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9801969" y="4400550"/>
            <a:ext cx="137085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A544B"/>
                </a:solidFill>
                <a:latin typeface="Arimo"/>
                <a:ea typeface="Arimo"/>
                <a:cs typeface="Arimo"/>
                <a:sym typeface="Arimo"/>
              </a:rPr>
              <a:t>Hallucination-Free Answer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5915769" y="3200400"/>
            <a:ext cx="11334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C6C25"/>
                </a:solidFill>
                <a:latin typeface="Arimo"/>
                <a:ea typeface="Arimo"/>
                <a:cs typeface="Arimo"/>
                <a:sym typeface="Arimo"/>
              </a:rPr>
              <a:t>RAG Route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5915769" y="3448050"/>
            <a:ext cx="29146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A4238"/>
                </a:solidFill>
                <a:latin typeface="Arimo"/>
                <a:ea typeface="Arimo"/>
                <a:cs typeface="Arimo"/>
                <a:sym typeface="Arimo"/>
              </a:rPr>
              <a:t>Text Extraction &amp; Side-by-Side Comparisons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5915769" y="4271962"/>
            <a:ext cx="2390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C6C25"/>
                </a:solidFill>
                <a:latin typeface="Arimo"/>
                <a:ea typeface="Arimo"/>
                <a:cs typeface="Arimo"/>
                <a:sym typeface="Arimo"/>
              </a:rPr>
              <a:t>Tools / Action Group Route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5915769" y="4519612"/>
            <a:ext cx="29146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A4238"/>
                </a:solidFill>
                <a:latin typeface="Arimo"/>
                <a:ea typeface="Arimo"/>
                <a:cs typeface="Arimo"/>
                <a:sym typeface="Arimo"/>
              </a:rPr>
              <a:t>Math &amp; CSV Operations via Lambda + Pandas</a:t>
            </a:r>
            <a:endParaRPr/>
          </a:p>
        </p:txBody>
      </p:sp>
      <p:pic>
        <p:nvPicPr>
          <p:cNvPr descr="image.png" id="173" name="Google Shape;173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915769" y="320992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915769" y="4281487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228600" y="57150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C362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System Architecture: Query Routing Pipeline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BE0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44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681162"/>
            <a:ext cx="47625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title="deploy_app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950" y="1502900"/>
            <a:ext cx="5518348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 flipH="1">
            <a:off x="8657350" y="2767000"/>
            <a:ext cx="179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C6C25"/>
                </a:solidFill>
                <a:latin typeface="Arimo"/>
                <a:ea typeface="Arimo"/>
                <a:cs typeface="Arimo"/>
                <a:sym typeface="Arimo"/>
              </a:rPr>
              <a:t>Key Features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191250" y="3186112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A544B"/>
                </a:solidFill>
                <a:latin typeface="Arimo"/>
                <a:ea typeface="Arimo"/>
                <a:cs typeface="Arimo"/>
                <a:sym typeface="Arimo"/>
              </a:rPr>
              <a:t>Simple policy document upload.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191250" y="3738562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A544B"/>
                </a:solidFill>
                <a:latin typeface="Arimo"/>
                <a:ea typeface="Arimo"/>
                <a:cs typeface="Arimo"/>
                <a:sym typeface="Arimo"/>
              </a:rPr>
              <a:t>Natural language queries (Q&amp;A).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191250" y="4291012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A544B"/>
                </a:solidFill>
                <a:latin typeface="Arimo"/>
                <a:ea typeface="Arimo"/>
                <a:cs typeface="Arimo"/>
                <a:sym typeface="Arimo"/>
              </a:rPr>
              <a:t>Side-by-side coverage comparison.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6191250" y="4843462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A544B"/>
                </a:solidFill>
                <a:latin typeface="Arimo"/>
                <a:ea typeface="Arimo"/>
                <a:cs typeface="Arimo"/>
                <a:sym typeface="Arimo"/>
              </a:rPr>
              <a:t>Verified citations from source documents.</a:t>
            </a:r>
            <a:endParaRPr/>
          </a:p>
        </p:txBody>
      </p:sp>
      <p:pic>
        <p:nvPicPr>
          <p:cNvPr descr="image.png" id="189" name="Google Shape;18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58550" y="323373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201400" y="37861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201400" y="43386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229975" y="489108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228600" y="57150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C362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Live Demo: RAGBI Interface</a:t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BE0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43162"/>
            <a:ext cx="3786187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43812" y="2443162"/>
            <a:ext cx="3786187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1009650" y="3276600"/>
            <a:ext cx="278034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C6C25"/>
                </a:solidFill>
                <a:latin typeface="Arimo"/>
                <a:ea typeface="Arimo"/>
                <a:cs typeface="Arimo"/>
                <a:sym typeface="Arimo"/>
              </a:rPr>
              <a:t>Technical Challenges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1009650" y="3686175"/>
            <a:ext cx="329088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A4238"/>
                </a:solidFill>
                <a:latin typeface="Arimo"/>
                <a:ea typeface="Arimo"/>
                <a:cs typeface="Arimo"/>
                <a:sym typeface="Arimo"/>
              </a:rPr>
              <a:t>• Ensuring precise and accurate context retrieval within the RAG engine.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1009650" y="4343400"/>
            <a:ext cx="329088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A4238"/>
                </a:solidFill>
                <a:latin typeface="Arimo"/>
                <a:ea typeface="Arimo"/>
                <a:cs typeface="Arimo"/>
                <a:sym typeface="Arimo"/>
              </a:rPr>
              <a:t>• Structuring and constructing a high-quality dataset (SetData).</a:t>
            </a:r>
            <a:endParaRPr/>
          </a:p>
        </p:txBody>
      </p:sp>
      <p:pic>
        <p:nvPicPr>
          <p:cNvPr descr="image.png" id="205" name="Google Shape;20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0" y="2967037"/>
            <a:ext cx="15240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4833937" y="4633912"/>
            <a:ext cx="25241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C6C25"/>
                </a:solidFill>
                <a:latin typeface="Arimo"/>
                <a:ea typeface="Arimo"/>
                <a:cs typeface="Arimo"/>
                <a:sym typeface="Arimo"/>
              </a:rPr>
              <a:t>UNDER CONSTRUCTION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7891462" y="3276600"/>
            <a:ext cx="225028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C6C25"/>
                </a:solidFill>
                <a:latin typeface="Arimo"/>
                <a:ea typeface="Arimo"/>
                <a:cs typeface="Arimo"/>
                <a:sym typeface="Arimo"/>
              </a:rPr>
              <a:t>Future Roadmap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7891462" y="3686175"/>
            <a:ext cx="329088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A4238"/>
                </a:solidFill>
                <a:latin typeface="Arimo"/>
                <a:ea typeface="Arimo"/>
                <a:cs typeface="Arimo"/>
                <a:sym typeface="Arimo"/>
              </a:rPr>
              <a:t>• Enhancing and optimization of RAG generation and responses.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7891462" y="4343400"/>
            <a:ext cx="329088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A4238"/>
                </a:solidFill>
                <a:latin typeface="Arimo"/>
                <a:ea typeface="Arimo"/>
                <a:cs typeface="Arimo"/>
                <a:sym typeface="Arimo"/>
              </a:rPr>
              <a:t>• Advancing the architecture to move closer toward an efficient market model.</a:t>
            </a:r>
            <a:endParaRPr/>
          </a:p>
        </p:txBody>
      </p:sp>
      <p:pic>
        <p:nvPicPr>
          <p:cNvPr descr="image.png" id="210" name="Google Shape;21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9650" y="32861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76900" y="3395662"/>
            <a:ext cx="8382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91462" y="32861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228600" y="57150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C362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Challenges &amp; Future Roadmap</a:t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BE0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0" y="3976687"/>
            <a:ext cx="3810000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495300" y="1328737"/>
            <a:ext cx="11201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BC6C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Questions?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762000" y="2738437"/>
            <a:ext cx="10668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D6875"/>
                </a:solidFill>
                <a:latin typeface="Arimo"/>
                <a:ea typeface="Arimo"/>
                <a:cs typeface="Arimo"/>
                <a:sym typeface="Arimo"/>
              </a:rPr>
              <a:t>Thank you for your attention.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2915175" y="4481500"/>
            <a:ext cx="5977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5A544B"/>
                </a:solidFill>
                <a:latin typeface="Arimo"/>
                <a:ea typeface="Arimo"/>
                <a:cs typeface="Arimo"/>
                <a:sym typeface="Arimo"/>
              </a:rPr>
              <a:t>https://github.com/adieldolinsky/insurance-rag-assistant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4191000" y="5005387"/>
            <a:ext cx="3810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A544B"/>
                </a:solidFill>
                <a:latin typeface="Arimo"/>
                <a:ea typeface="Arimo"/>
                <a:cs typeface="Arimo"/>
                <a:sym typeface="Arimo"/>
              </a:rPr>
              <a:t>adiel</a:t>
            </a:r>
            <a:r>
              <a:rPr lang="en-US" sz="1650">
                <a:solidFill>
                  <a:srgbClr val="5A544B"/>
                </a:solidFill>
                <a:latin typeface="Arimo"/>
                <a:ea typeface="Arimo"/>
                <a:cs typeface="Arimo"/>
                <a:sym typeface="Arimo"/>
              </a:rPr>
              <a:t>.dolinsky</a:t>
            </a:r>
            <a:r>
              <a:rPr b="0" i="0" lang="en-US" sz="1650" u="none" cap="none" strike="noStrike">
                <a:solidFill>
                  <a:srgbClr val="5A544B"/>
                </a:solidFill>
                <a:latin typeface="Arimo"/>
                <a:ea typeface="Arimo"/>
                <a:cs typeface="Arimo"/>
                <a:sym typeface="Arimo"/>
              </a:rPr>
              <a:t>@email.com</a:t>
            </a:r>
            <a:endParaRPr/>
          </a:p>
        </p:txBody>
      </p:sp>
      <p:pic>
        <p:nvPicPr>
          <p:cNvPr descr="image.png" id="225" name="Google Shape;22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00550" y="4529137"/>
            <a:ext cx="2000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19687" y="5053012"/>
            <a:ext cx="2095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BE0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/>
          <p:nvPr/>
        </p:nvSpPr>
        <p:spPr>
          <a:xfrm>
            <a:off x="1966912" y="2814637"/>
            <a:ext cx="82581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1966912" y="3586162"/>
            <a:ext cx="82581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1966912" y="3576637"/>
            <a:ext cx="82581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1966912" y="3576637"/>
            <a:ext cx="82581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1966912" y="4348162"/>
            <a:ext cx="82581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1966912" y="4348162"/>
            <a:ext cx="82581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8" name="Google Shape;23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6912" y="29575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3062287" y="2964656"/>
            <a:ext cx="71628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A544B"/>
                </a:solidFill>
                <a:latin typeface="Arimo"/>
                <a:ea typeface="Arimo"/>
                <a:cs typeface="Arimo"/>
                <a:sym typeface="Arimo"/>
              </a:rPr>
              <a:t>https://www.boisestate.edu/computing/wp-content/uploads/sites/981/2025/07/CareerPhoto_EricMelin-e1744130037322.jpg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3062287" y="3198018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544B"/>
                </a:solidFill>
                <a:latin typeface="Arimo"/>
                <a:ea typeface="Arimo"/>
                <a:cs typeface="Arimo"/>
                <a:sym typeface="Arim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rimo"/>
                <a:ea typeface="Arimo"/>
                <a:cs typeface="Arimo"/>
                <a:sym typeface="Arimo"/>
              </a:rPr>
              <a:t>www.boisestate.edu</a:t>
            </a:r>
            <a:endParaRPr/>
          </a:p>
        </p:txBody>
      </p:sp>
      <p:pic>
        <p:nvPicPr>
          <p:cNvPr descr="image.png" id="241" name="Google Shape;24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66912" y="37290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3062287" y="3736181"/>
            <a:ext cx="71628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A544B"/>
                </a:solidFill>
                <a:latin typeface="Arimo"/>
                <a:ea typeface="Arimo"/>
                <a:cs typeface="Arimo"/>
                <a:sym typeface="Arimo"/>
              </a:rPr>
              <a:t>https://www.wonderbaby.org/wp-content/uploads/2025/05/robot-dr-feature.png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3062287" y="3969543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544B"/>
                </a:solidFill>
                <a:latin typeface="Arimo"/>
                <a:ea typeface="Arimo"/>
                <a:cs typeface="Arimo"/>
                <a:sym typeface="Arim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rimo"/>
                <a:ea typeface="Arimo"/>
                <a:cs typeface="Arimo"/>
                <a:sym typeface="Arimo"/>
              </a:rPr>
              <a:t>www.wonderbaby.org</a:t>
            </a:r>
            <a:endParaRPr/>
          </a:p>
        </p:txBody>
      </p:sp>
      <p:pic>
        <p:nvPicPr>
          <p:cNvPr descr="image.png" id="244" name="Google Shape;24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66912" y="45005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3062287" y="4507706"/>
            <a:ext cx="71628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A544B"/>
                </a:solidFill>
                <a:latin typeface="Arimo"/>
                <a:ea typeface="Arimo"/>
                <a:cs typeface="Arimo"/>
                <a:sym typeface="Arimo"/>
              </a:rPr>
              <a:t>https://cdn.dribbble.com/userupload/44053404/file/original-95a661187c2fb1f5805242d371cb73d6.png?resize=752x&amp;vertical=center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3062287" y="4741068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A544B"/>
                </a:solidFill>
                <a:latin typeface="Arimo"/>
                <a:ea typeface="Arimo"/>
                <a:cs typeface="Arimo"/>
                <a:sym typeface="Arim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rimo"/>
                <a:ea typeface="Arimo"/>
                <a:cs typeface="Arimo"/>
                <a:sym typeface="Arimo"/>
              </a:rPr>
              <a:t>dribbble.com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228600" y="571500"/>
            <a:ext cx="11201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3C362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Image Sources</a:t>
            </a: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762000" y="1247775"/>
            <a:ext cx="10668000" cy="19050"/>
          </a:xfrm>
          <a:prstGeom prst="rect">
            <a:avLst/>
          </a:prstGeom>
          <a:solidFill>
            <a:srgbClr val="D4A37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